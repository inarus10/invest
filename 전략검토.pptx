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CB2"/>
    <a:srgbClr val="F8766D"/>
    <a:srgbClr val="C6ECB9"/>
    <a:srgbClr val="FF3300"/>
    <a:srgbClr val="FFC000"/>
    <a:srgbClr val="B79F00"/>
    <a:srgbClr val="8ED9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72A07-812C-6B97-C544-3EFD4367D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C9174D-3F90-7172-578C-56BFF7AE4B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2922BF-2E33-83A6-3ECC-DF748CFF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653A-5213-4E1F-8F22-69190C37C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3BEC51-C318-D903-1B55-EDD005CB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3C681B-B38E-A668-9928-3D1EB8073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52757-A8AF-40AC-A295-553FA54001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971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8C11EB-48DB-875B-4E4A-6F0098CB5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8168BE-B720-5C7F-17AD-A22BBF85E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A975B5-CC07-42D8-DDC5-8E4DBA730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653A-5213-4E1F-8F22-69190C37C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CF6931-9DF2-4118-D029-0F232CCF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87C6D3-50EE-8EB6-B054-E61DE36EE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52757-A8AF-40AC-A295-553FA54001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000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9090B-C142-7016-00A0-5AAB3F47D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8B989C-DA5C-F903-CC4D-0DC83F7E8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E24BD3-76D3-8080-8DFA-05582AD91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653A-5213-4E1F-8F22-69190C37C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84C31D-C00A-AB0A-0C51-D208EE38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BBA7C7-E946-F04F-1A9C-6E5F70F1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52757-A8AF-40AC-A295-553FA54001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55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2453F2-73AB-2C1A-0515-E0C4EA16A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A80F76-20C9-2645-F43A-C3CB9E117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7E9341-57D1-B5E0-A925-BC47E72FE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1CDDCE-E423-B563-00E7-313CAD79F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653A-5213-4E1F-8F22-69190C37C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6EE54D-088D-B2BC-714D-74C40A402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AEE5FF-3616-D26F-D914-1DB20402B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52757-A8AF-40AC-A295-553FA54001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781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9E9B4-618E-3E4C-A8AC-60DA6F49D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D4048D-EC4B-2DD6-C527-9EC439189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3BFC89-69DA-9222-3834-1E8F7322B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1B119C-6493-DA61-B0AB-7BEAFB896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78D994-5542-ED34-2AC6-713161C9D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328DD3-6973-9265-B995-CC69B60D7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653A-5213-4E1F-8F22-69190C37C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248C4A1-B2A4-6A81-2D6C-69CE7B4E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F0E7E3-B64E-0275-04A2-30AD6FE0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52757-A8AF-40AC-A295-553FA54001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9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37FA68-3BF9-0FE4-960D-09AB37B1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79B3A9-36C5-5A5A-F4B7-F3752BEAD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653A-5213-4E1F-8F22-69190C37C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86D51F-6200-774D-A4FB-F868D17C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C5777F-57AD-FB3B-50FF-2017541C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52757-A8AF-40AC-A295-553FA54001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91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DDE091-AB82-965F-25BA-71E4A28F8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653A-5213-4E1F-8F22-69190C37C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86F24C-C2C3-51E6-F1BE-1D6DEE1F9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E6213-BB75-FB4D-6AE4-CD09A3C15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52757-A8AF-40AC-A295-553FA54001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066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5B9239-0066-4815-0250-EFEA4CD0E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3A764-2014-D2FD-FD9A-9EDCC4319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DA3330-8F1A-D3F7-6E69-36E4B4F2C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873316-7C47-9A98-58C6-CBB8528AB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653A-5213-4E1F-8F22-69190C37C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E72D96-1161-ED49-8E0E-7DFCF1429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2E3022-49F0-2A4F-01D9-FBB7DB7A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52757-A8AF-40AC-A295-553FA54001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233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BF9E9-60C4-F1BF-50DD-AE1EB30C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3C7AEC8-B30B-793F-4329-E065C42EDE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2F74DB-7A91-DB27-3D55-ACE33EB28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4EF63D-F275-1C15-7F51-59EB446E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653A-5213-4E1F-8F22-69190C37C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FEB085-DAC9-FD98-7A30-7019B9BCC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6DB481-B982-5266-84C2-2B596DFE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52757-A8AF-40AC-A295-553FA54001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55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399522-A6AC-22A8-3A4F-EC23FA6AB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9B380D-DAD3-6EBE-471E-CA496406D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E32DBF-10DC-5FE2-FAE2-2BD0A8A9D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653A-5213-4E1F-8F22-69190C37C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CB8A8D-8AB9-0E54-DCD2-4AF4F5292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9ED163-CA88-6E6A-167A-C15381D01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52757-A8AF-40AC-A295-553FA54001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5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A2516B3-02BA-D507-6E6C-74CD2F4F14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7BD355-D9DF-F93C-86D6-5C1573982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E364A3-A614-D1DC-19DD-361AE0922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653A-5213-4E1F-8F22-69190C37C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58CBCC-2932-BC31-974E-4690F5554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8B0CF0-CCD9-03BE-AA5F-B411853E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52757-A8AF-40AC-A295-553FA54001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019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049BF9-5B38-EE22-E8D3-962754AEC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71BCA9-733B-BB60-E952-6F59FFF39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6E5B-90B5-7975-D987-C9CA2E30A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9653A-5213-4E1F-8F22-69190C37CB6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7D1AE3-256C-56B9-3F8A-4885FBF7A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FB16F4-9E6C-341E-B452-379C00E9D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52757-A8AF-40AC-A295-553FA54001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503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도표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D71F0B-BDCC-9A2A-4BAC-47DA39916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2" y="857118"/>
            <a:ext cx="11989416" cy="5143764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510BC9-C58A-C80B-859E-644DBCC97AA9}"/>
              </a:ext>
            </a:extLst>
          </p:cNvPr>
          <p:cNvCxnSpPr>
            <a:cxnSpLocks/>
          </p:cNvCxnSpPr>
          <p:nvPr/>
        </p:nvCxnSpPr>
        <p:spPr>
          <a:xfrm>
            <a:off x="1914717" y="1362395"/>
            <a:ext cx="0" cy="2350437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F255CAF-5712-71B7-56D7-678DFC20177F}"/>
              </a:ext>
            </a:extLst>
          </p:cNvPr>
          <p:cNvCxnSpPr>
            <a:cxnSpLocks/>
          </p:cNvCxnSpPr>
          <p:nvPr/>
        </p:nvCxnSpPr>
        <p:spPr>
          <a:xfrm>
            <a:off x="2313616" y="1374669"/>
            <a:ext cx="0" cy="205433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C7D06E2-48B7-DF41-5274-EE6502F7C9C7}"/>
              </a:ext>
            </a:extLst>
          </p:cNvPr>
          <p:cNvCxnSpPr>
            <a:cxnSpLocks/>
          </p:cNvCxnSpPr>
          <p:nvPr/>
        </p:nvCxnSpPr>
        <p:spPr>
          <a:xfrm>
            <a:off x="3117551" y="1374669"/>
            <a:ext cx="0" cy="270024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3AD61C-C8C6-0561-EB6E-E63B7DA47087}"/>
              </a:ext>
            </a:extLst>
          </p:cNvPr>
          <p:cNvSpPr/>
          <p:nvPr/>
        </p:nvSpPr>
        <p:spPr>
          <a:xfrm>
            <a:off x="558473" y="1478996"/>
            <a:ext cx="1356244" cy="822346"/>
          </a:xfrm>
          <a:prstGeom prst="rect">
            <a:avLst/>
          </a:prstGeom>
          <a:solidFill>
            <a:srgbClr val="8ED97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accent6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미국 주식</a:t>
            </a:r>
            <a:b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(~2020.01)</a:t>
            </a:r>
            <a:endParaRPr lang="ko-KR" altLang="en-US" sz="10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2AA4AA-5C1B-FC49-6E67-0E104712B289}"/>
              </a:ext>
            </a:extLst>
          </p:cNvPr>
          <p:cNvSpPr/>
          <p:nvPr/>
        </p:nvSpPr>
        <p:spPr>
          <a:xfrm>
            <a:off x="1914717" y="1478996"/>
            <a:ext cx="398896" cy="822346"/>
          </a:xfrm>
          <a:prstGeom prst="rect">
            <a:avLst/>
          </a:prstGeom>
          <a:solidFill>
            <a:schemeClr val="accent5">
              <a:lumMod val="20000"/>
              <a:lumOff val="8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>
                <a:solidFill>
                  <a:schemeClr val="accent5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현금</a:t>
            </a:r>
            <a:endParaRPr lang="en-US" altLang="ko-KR" sz="1000">
              <a:solidFill>
                <a:schemeClr val="accent5">
                  <a:lumMod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ko-KR" altLang="en-US" sz="1000">
                <a:solidFill>
                  <a:schemeClr val="accent5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보유</a:t>
            </a:r>
            <a:b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(.02~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.04)</a:t>
            </a:r>
            <a:endParaRPr lang="ko-KR" altLang="en-US" sz="10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B962BA0-3BE6-2338-C77A-714B5AD23E8D}"/>
              </a:ext>
            </a:extLst>
          </p:cNvPr>
          <p:cNvCxnSpPr>
            <a:cxnSpLocks/>
          </p:cNvCxnSpPr>
          <p:nvPr/>
        </p:nvCxnSpPr>
        <p:spPr>
          <a:xfrm>
            <a:off x="4344933" y="1374669"/>
            <a:ext cx="0" cy="2258383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583C19D-22FC-2BD5-AB25-0522F2D73993}"/>
              </a:ext>
            </a:extLst>
          </p:cNvPr>
          <p:cNvCxnSpPr>
            <a:cxnSpLocks/>
          </p:cNvCxnSpPr>
          <p:nvPr/>
        </p:nvCxnSpPr>
        <p:spPr>
          <a:xfrm>
            <a:off x="5155006" y="1374669"/>
            <a:ext cx="0" cy="293958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0C4CA1-5142-B789-0DE1-D6BF0059EF90}"/>
              </a:ext>
            </a:extLst>
          </p:cNvPr>
          <p:cNvSpPr/>
          <p:nvPr/>
        </p:nvSpPr>
        <p:spPr>
          <a:xfrm>
            <a:off x="4344932" y="1478996"/>
            <a:ext cx="810067" cy="822346"/>
          </a:xfrm>
          <a:prstGeom prst="rect">
            <a:avLst/>
          </a:prstGeom>
          <a:solidFill>
            <a:srgbClr val="8ED97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나스닥</a:t>
            </a:r>
            <a:b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(2021.09~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2022.01)</a:t>
            </a:r>
            <a:endParaRPr lang="ko-KR" altLang="en-US" sz="10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E14808-9828-B034-955C-906686947B87}"/>
              </a:ext>
            </a:extLst>
          </p:cNvPr>
          <p:cNvSpPr/>
          <p:nvPr/>
        </p:nvSpPr>
        <p:spPr>
          <a:xfrm>
            <a:off x="5155004" y="1478996"/>
            <a:ext cx="1877889" cy="822346"/>
          </a:xfrm>
          <a:prstGeom prst="rect">
            <a:avLst/>
          </a:prstGeom>
          <a:solidFill>
            <a:schemeClr val="accent5">
              <a:lumMod val="20000"/>
              <a:lumOff val="8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>
                <a:solidFill>
                  <a:schemeClr val="accent5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현금보유</a:t>
            </a:r>
            <a:b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(2022.02~2023.03)</a:t>
            </a:r>
            <a:endParaRPr lang="ko-KR" altLang="en-US" sz="10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E9CC788-04F5-6A21-ED20-88DD47DADEEB}"/>
              </a:ext>
            </a:extLst>
          </p:cNvPr>
          <p:cNvCxnSpPr>
            <a:cxnSpLocks/>
          </p:cNvCxnSpPr>
          <p:nvPr/>
        </p:nvCxnSpPr>
        <p:spPr>
          <a:xfrm>
            <a:off x="3258700" y="1374669"/>
            <a:ext cx="0" cy="260205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167276-5211-2FFD-CFC0-65FA80FA9DFB}"/>
              </a:ext>
            </a:extLst>
          </p:cNvPr>
          <p:cNvSpPr/>
          <p:nvPr/>
        </p:nvSpPr>
        <p:spPr>
          <a:xfrm>
            <a:off x="2313613" y="1478996"/>
            <a:ext cx="803938" cy="822346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accent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한국 주식</a:t>
            </a:r>
            <a:b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(2020.05~2020.10)</a:t>
            </a:r>
            <a:endParaRPr lang="ko-KR" altLang="en-US" sz="10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A13C93-D82C-00E6-9413-9620EC1E9CE7}"/>
              </a:ext>
            </a:extLst>
          </p:cNvPr>
          <p:cNvSpPr/>
          <p:nvPr/>
        </p:nvSpPr>
        <p:spPr>
          <a:xfrm>
            <a:off x="3117550" y="1478996"/>
            <a:ext cx="153410" cy="822346"/>
          </a:xfrm>
          <a:prstGeom prst="rect">
            <a:avLst/>
          </a:prstGeom>
          <a:solidFill>
            <a:schemeClr val="accent5">
              <a:lumMod val="20000"/>
              <a:lumOff val="8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11</a:t>
            </a:r>
            <a:endParaRPr lang="ko-KR" altLang="en-US" sz="10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B07933-7863-A8BB-E1E8-0B6006C0D5D0}"/>
              </a:ext>
            </a:extLst>
          </p:cNvPr>
          <p:cNvSpPr/>
          <p:nvPr/>
        </p:nvSpPr>
        <p:spPr>
          <a:xfrm>
            <a:off x="3252567" y="1478996"/>
            <a:ext cx="1092357" cy="822346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accent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한국 주식</a:t>
            </a:r>
            <a:b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(2020.12~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2021.08)</a:t>
            </a:r>
            <a:endParaRPr lang="ko-KR" altLang="en-US" sz="10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D7035D1-4949-E298-0845-9C52EA2E4C4D}"/>
              </a:ext>
            </a:extLst>
          </p:cNvPr>
          <p:cNvCxnSpPr>
            <a:cxnSpLocks/>
          </p:cNvCxnSpPr>
          <p:nvPr/>
        </p:nvCxnSpPr>
        <p:spPr>
          <a:xfrm>
            <a:off x="7032902" y="1374669"/>
            <a:ext cx="0" cy="2338163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5AB7147-7567-D0BD-90AB-40EE7436694D}"/>
              </a:ext>
            </a:extLst>
          </p:cNvPr>
          <p:cNvCxnSpPr>
            <a:cxnSpLocks/>
          </p:cNvCxnSpPr>
          <p:nvPr/>
        </p:nvCxnSpPr>
        <p:spPr>
          <a:xfrm>
            <a:off x="7849111" y="1374669"/>
            <a:ext cx="0" cy="2338163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7E3F38C-74B5-8CC7-F5DC-3A921105CCBD}"/>
              </a:ext>
            </a:extLst>
          </p:cNvPr>
          <p:cNvCxnSpPr>
            <a:cxnSpLocks/>
          </p:cNvCxnSpPr>
          <p:nvPr/>
        </p:nvCxnSpPr>
        <p:spPr>
          <a:xfrm>
            <a:off x="8112999" y="1374669"/>
            <a:ext cx="0" cy="2497723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DBB72A8-423E-BF94-5F13-F7DE8BDE23FB}"/>
              </a:ext>
            </a:extLst>
          </p:cNvPr>
          <p:cNvCxnSpPr>
            <a:cxnSpLocks/>
          </p:cNvCxnSpPr>
          <p:nvPr/>
        </p:nvCxnSpPr>
        <p:spPr>
          <a:xfrm>
            <a:off x="8653047" y="1374669"/>
            <a:ext cx="0" cy="2497723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97ADE86-93A9-99A3-7970-26627EA8073C}"/>
              </a:ext>
            </a:extLst>
          </p:cNvPr>
          <p:cNvCxnSpPr>
            <a:cxnSpLocks/>
          </p:cNvCxnSpPr>
          <p:nvPr/>
        </p:nvCxnSpPr>
        <p:spPr>
          <a:xfrm>
            <a:off x="10549353" y="1374669"/>
            <a:ext cx="0" cy="2497723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D02C3F2-DF6B-9790-A708-23B08961ACF8}"/>
              </a:ext>
            </a:extLst>
          </p:cNvPr>
          <p:cNvSpPr/>
          <p:nvPr/>
        </p:nvSpPr>
        <p:spPr>
          <a:xfrm>
            <a:off x="7032893" y="1478996"/>
            <a:ext cx="816207" cy="822346"/>
          </a:xfrm>
          <a:prstGeom prst="rect">
            <a:avLst/>
          </a:prstGeom>
          <a:solidFill>
            <a:srgbClr val="8ED97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accent6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나스닥</a:t>
            </a:r>
            <a:b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(2023.04~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2023.09)</a:t>
            </a:r>
            <a:endParaRPr lang="ko-KR" altLang="en-US" sz="10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071FAD9-93F7-FF40-EC2F-20BC48B5D5EE}"/>
              </a:ext>
            </a:extLst>
          </p:cNvPr>
          <p:cNvSpPr/>
          <p:nvPr/>
        </p:nvSpPr>
        <p:spPr>
          <a:xfrm>
            <a:off x="7842959" y="1478996"/>
            <a:ext cx="263881" cy="822346"/>
          </a:xfrm>
          <a:prstGeom prst="rect">
            <a:avLst/>
          </a:prstGeom>
          <a:solidFill>
            <a:schemeClr val="accent5">
              <a:lumMod val="20000"/>
              <a:lumOff val="8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.10, .11</a:t>
            </a:r>
            <a:endParaRPr lang="ko-KR" altLang="en-US" sz="10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0953F23-773F-8C6F-C1FE-BF039E2DB1FF}"/>
              </a:ext>
            </a:extLst>
          </p:cNvPr>
          <p:cNvSpPr/>
          <p:nvPr/>
        </p:nvSpPr>
        <p:spPr>
          <a:xfrm>
            <a:off x="8120137" y="1478996"/>
            <a:ext cx="540054" cy="822346"/>
          </a:xfrm>
          <a:prstGeom prst="rect">
            <a:avLst/>
          </a:prstGeom>
          <a:solidFill>
            <a:srgbClr val="8ED97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>
                <a:solidFill>
                  <a:schemeClr val="accent6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미국</a:t>
            </a:r>
            <a:endParaRPr lang="en-US" altLang="ko-KR" sz="1000">
              <a:solidFill>
                <a:schemeClr val="accent6">
                  <a:lumMod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ko-KR" altLang="en-US" sz="1000">
                <a:solidFill>
                  <a:schemeClr val="accent6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주식</a:t>
            </a:r>
            <a:b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9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(2023.12~</a:t>
            </a:r>
          </a:p>
          <a:p>
            <a:pPr algn="ctr"/>
            <a:r>
              <a:rPr lang="en-US" altLang="ko-KR" sz="9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2024.03)</a:t>
            </a:r>
            <a:endParaRPr lang="ko-KR" altLang="en-US" sz="9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6659D4D-2CD6-61EE-843D-9311CE02DBBE}"/>
              </a:ext>
            </a:extLst>
          </p:cNvPr>
          <p:cNvSpPr/>
          <p:nvPr/>
        </p:nvSpPr>
        <p:spPr>
          <a:xfrm>
            <a:off x="8653041" y="1478996"/>
            <a:ext cx="1896312" cy="822346"/>
          </a:xfrm>
          <a:prstGeom prst="rect">
            <a:avLst/>
          </a:prstGeom>
          <a:gradFill flip="none" rotWithShape="1">
            <a:gsLst>
              <a:gs pos="0">
                <a:srgbClr val="F8766D">
                  <a:alpha val="30196"/>
                </a:srgbClr>
              </a:gs>
              <a:gs pos="100000">
                <a:srgbClr val="C6ECB9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금 </a:t>
            </a:r>
            <a:r>
              <a:rPr lang="en-US" altLang="ko-KR" sz="100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+ </a:t>
            </a:r>
            <a:r>
              <a:rPr lang="ko-KR" altLang="en-US" sz="100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미국 주식</a:t>
            </a:r>
            <a:br>
              <a:rPr lang="en-US" altLang="ko-KR" sz="105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(2024.04~2025.05)</a:t>
            </a:r>
            <a:endParaRPr lang="ko-KR" altLang="en-US" sz="10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47A3B0A-0496-0FCC-4CFA-46441876AE0C}"/>
              </a:ext>
            </a:extLst>
          </p:cNvPr>
          <p:cNvSpPr/>
          <p:nvPr/>
        </p:nvSpPr>
        <p:spPr>
          <a:xfrm>
            <a:off x="10549350" y="1478996"/>
            <a:ext cx="1209262" cy="822346"/>
          </a:xfrm>
          <a:prstGeom prst="rect">
            <a:avLst/>
          </a:prstGeom>
          <a:gradFill flip="none" rotWithShape="1">
            <a:gsLst>
              <a:gs pos="0">
                <a:srgbClr val="F8766D">
                  <a:alpha val="30196"/>
                </a:srgbClr>
              </a:gs>
              <a:gs pos="100000">
                <a:srgbClr val="FFECB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>
                <a:solidFill>
                  <a:schemeClr val="accent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한국주식</a:t>
            </a:r>
            <a:r>
              <a:rPr lang="en-US" altLang="ko-KR" sz="1000">
                <a:solidFill>
                  <a:schemeClr val="accent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+</a:t>
            </a:r>
            <a:r>
              <a:rPr lang="ko-KR" altLang="en-US" sz="1000">
                <a:solidFill>
                  <a:schemeClr val="accent2">
                    <a:lumMod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금</a:t>
            </a:r>
            <a:br>
              <a:rPr lang="en-US" altLang="ko-KR" sz="105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(2024.06~2026.01)</a:t>
            </a:r>
            <a:endParaRPr lang="ko-KR" altLang="en-US" sz="10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3312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77</Words>
  <Application>Microsoft Office PowerPoint</Application>
  <PresentationFormat>와이드스크린</PresentationFormat>
  <Paragraphs>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Noto Sans KR Medium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이슬</dc:creator>
  <cp:lastModifiedBy>이슬</cp:lastModifiedBy>
  <cp:revision>18</cp:revision>
  <dcterms:created xsi:type="dcterms:W3CDTF">2026-01-08T05:43:43Z</dcterms:created>
  <dcterms:modified xsi:type="dcterms:W3CDTF">2026-01-08T09:42:25Z</dcterms:modified>
</cp:coreProperties>
</file>